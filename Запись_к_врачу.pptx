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media/image1.png" ContentType="image/png"/>
  <Override PartName="/ppt/media/image2.png" ContentType="image/png"/>
  <Override PartName="/ppt/media/image7.gif" ContentType="image/gif"/>
  <Override PartName="/ppt/media/image3.png" ContentType="image/png"/>
  <Override PartName="/ppt/media/image8.gif" ContentType="image/gif"/>
  <Override PartName="/ppt/media/image4.png" ContentType="image/png"/>
  <Override PartName="/ppt/media/image5.png" ContentType="image/png"/>
  <Override PartName="/ppt/media/image6.png" ContentType="image/png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перемещения страницы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&lt;верхний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FAB91BB-74D9-4A27-AAB3-5240F801458D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Здравствуйте! Я расскажу о приложении для записи к врачу в поликлинике: что оно умеет и как устроена база данных на PostgreSQL.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05E9305-FCE5-4F7C-A5FE-7048CE6B745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Четыре главные возможности: каталог, роли, запись и управление заказами.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56C30CB-BEAD-4159-A0D1-6B63FE7BC3B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Каталог загружается из PostgreSQL. Если фото нет — подставляется заглушка picture.png.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5C6625F-158F-4BEE-8E7F-FD86AB97EAE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Пользователь входит по логину, затем выбирает врача и количество талонов. Заказ создаётся одной транзакцией.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6608B4E-4CC6-4689-9ED5-E34B8D92243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Список заказов доступен менеджеру и администратору. Администратор может менять дату и удалять позиции — талоны возвращаются врачу.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9145E20-E833-4D5E-9AAD-D0AED273246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Справочники ролей и специальностей вынесены отдельно — это нормализация до 3НФ. Цена в заказе хранится на момент записи.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1353C66-AD56-4538-8781-8F4479EA46D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Итог: приложение работает с PostgreSQL, учитывает роли и безопасно создаёт записи в одной транзакции. Спасибо за внимание!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7B3482B-548E-4C26-B86B-946FA8BE535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52" lnSpcReduction="20000"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ffffff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ffffff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ffffff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ffffff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ffffff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ffffff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ffffff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ffffff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ffffff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5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gif"/><Relationship Id="rId2" Type="http://schemas.openxmlformats.org/officeDocument/2006/relationships/image" Target="../media/image8.gif"/><Relationship Id="rId3" Type="http://schemas.openxmlformats.org/officeDocument/2006/relationships/slideLayout" Target="../slideLayouts/slideLayout37.xml"/><Relationship Id="rId4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731520" y="1828800"/>
            <a:ext cx="6948720" cy="155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6000" spc="-1" strike="noStrike">
                <a:solidFill>
                  <a:schemeClr val="lt1"/>
                </a:solidFill>
                <a:latin typeface="Calibri"/>
              </a:rPr>
              <a:t>Запись к врачу</a:t>
            </a:r>
            <a:endParaRPr b="0" lang="ru-RU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731520" y="3566160"/>
            <a:ext cx="6948720" cy="109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2"/>
                </a:solidFill>
                <a:latin typeface="Calibri"/>
              </a:rPr>
              <a:t>Приложение для поликлиники на Python и PostgreSQL</a:t>
            </a:r>
            <a:endParaRPr b="0" lang="ru-RU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Автор"/>
          <p:cNvSpPr/>
          <p:nvPr/>
        </p:nvSpPr>
        <p:spPr>
          <a:xfrm>
            <a:off x="731520" y="5120640"/>
            <a:ext cx="6948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accent1"/>
                </a:solidFill>
                <a:latin typeface="Calibri"/>
              </a:rPr>
              <a:t>Жилин Павел Витальевич · группа 3ИП-1-24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Рамка логотипа"/>
          <p:cNvSpPr/>
          <p:nvPr/>
        </p:nvSpPr>
        <p:spPr>
          <a:xfrm>
            <a:off x="8229600" y="1783080"/>
            <a:ext cx="3291120" cy="329112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rgbClr val="d2f6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" name="Логотип" descr="Логотип приложения"/>
          <p:cNvPicPr/>
          <p:nvPr/>
        </p:nvPicPr>
        <p:blipFill>
          <a:blip r:embed="rId1"/>
          <a:stretch/>
        </p:blipFill>
        <p:spPr>
          <a:xfrm>
            <a:off x="8549640" y="2103120"/>
            <a:ext cx="2651040" cy="2651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52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chemeClr val="dk2"/>
                </a:solidFill>
                <a:latin typeface="Calibri"/>
              </a:rPr>
              <a:t>Что умеет приложение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Карточка 1"/>
          <p:cNvSpPr/>
          <p:nvPr/>
        </p:nvSpPr>
        <p:spPr>
          <a:xfrm>
            <a:off x="548640" y="1554480"/>
            <a:ext cx="5348520" cy="219384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rgbClr val="d2f6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Номер 1"/>
          <p:cNvSpPr/>
          <p:nvPr/>
        </p:nvSpPr>
        <p:spPr>
          <a:xfrm>
            <a:off x="868680" y="1920240"/>
            <a:ext cx="730800" cy="7308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70b2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3"/>
          <p:cNvSpPr/>
          <p:nvPr/>
        </p:nvSpPr>
        <p:spPr>
          <a:xfrm>
            <a:off x="868680" y="1920240"/>
            <a:ext cx="730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1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4"/>
          <p:cNvSpPr/>
          <p:nvPr/>
        </p:nvSpPr>
        <p:spPr>
          <a:xfrm>
            <a:off x="1874520" y="1874520"/>
            <a:ext cx="37483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2"/>
                </a:solidFill>
                <a:latin typeface="Calibri"/>
              </a:rPr>
              <a:t>Каталог врачей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5"/>
          <p:cNvSpPr/>
          <p:nvPr/>
        </p:nvSpPr>
        <p:spPr>
          <a:xfrm>
            <a:off x="1874520" y="2468880"/>
            <a:ext cx="37483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Карточки с фото, специальностью, стажем и ценой. Мало талонов — красная подсветка.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Карточка 2"/>
          <p:cNvSpPr/>
          <p:nvPr/>
        </p:nvSpPr>
        <p:spPr>
          <a:xfrm>
            <a:off x="6263640" y="1554480"/>
            <a:ext cx="5348520" cy="219384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rgbClr val="d2f6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Номер 2"/>
          <p:cNvSpPr/>
          <p:nvPr/>
        </p:nvSpPr>
        <p:spPr>
          <a:xfrm>
            <a:off x="6583680" y="1920240"/>
            <a:ext cx="730800" cy="7308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8"/>
          <p:cNvSpPr/>
          <p:nvPr/>
        </p:nvSpPr>
        <p:spPr>
          <a:xfrm>
            <a:off x="6583680" y="1920240"/>
            <a:ext cx="730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2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9"/>
          <p:cNvSpPr/>
          <p:nvPr/>
        </p:nvSpPr>
        <p:spPr>
          <a:xfrm>
            <a:off x="7589520" y="1874520"/>
            <a:ext cx="37483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2"/>
                </a:solidFill>
                <a:latin typeface="Calibri"/>
              </a:rPr>
              <a:t>Вход по ролям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10"/>
          <p:cNvSpPr/>
          <p:nvPr/>
        </p:nvSpPr>
        <p:spPr>
          <a:xfrm>
            <a:off x="7589520" y="2468880"/>
            <a:ext cx="37483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Клиент, менеджер и администратор получают разные возможности.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Карточка 3"/>
          <p:cNvSpPr/>
          <p:nvPr/>
        </p:nvSpPr>
        <p:spPr>
          <a:xfrm>
            <a:off x="548640" y="4023360"/>
            <a:ext cx="5348520" cy="219384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rgbClr val="d2f6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Номер 3"/>
          <p:cNvSpPr/>
          <p:nvPr/>
        </p:nvSpPr>
        <p:spPr>
          <a:xfrm>
            <a:off x="868680" y="4389120"/>
            <a:ext cx="730800" cy="7308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70b2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13"/>
          <p:cNvSpPr/>
          <p:nvPr/>
        </p:nvSpPr>
        <p:spPr>
          <a:xfrm>
            <a:off x="868680" y="4389120"/>
            <a:ext cx="730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3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14"/>
          <p:cNvSpPr/>
          <p:nvPr/>
        </p:nvSpPr>
        <p:spPr>
          <a:xfrm>
            <a:off x="1874520" y="4343400"/>
            <a:ext cx="37483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2"/>
                </a:solidFill>
                <a:latin typeface="Calibri"/>
              </a:rPr>
              <a:t>Запись на приём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15"/>
          <p:cNvSpPr/>
          <p:nvPr/>
        </p:nvSpPr>
        <p:spPr>
          <a:xfrm>
            <a:off x="1874520" y="4937760"/>
            <a:ext cx="37483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Выбор числа талонов, проверка остатка, заказ сохраняется в PostgreSQL.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Карточка 4"/>
          <p:cNvSpPr/>
          <p:nvPr/>
        </p:nvSpPr>
        <p:spPr>
          <a:xfrm>
            <a:off x="6263640" y="4023360"/>
            <a:ext cx="5348520" cy="219384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rgbClr val="d2f6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Номер 4"/>
          <p:cNvSpPr/>
          <p:nvPr/>
        </p:nvSpPr>
        <p:spPr>
          <a:xfrm>
            <a:off x="6583680" y="4389120"/>
            <a:ext cx="730800" cy="7308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18"/>
          <p:cNvSpPr/>
          <p:nvPr/>
        </p:nvSpPr>
        <p:spPr>
          <a:xfrm>
            <a:off x="6583680" y="4389120"/>
            <a:ext cx="730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4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19"/>
          <p:cNvSpPr/>
          <p:nvPr/>
        </p:nvSpPr>
        <p:spPr>
          <a:xfrm>
            <a:off x="7589520" y="4343400"/>
            <a:ext cx="37483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2"/>
                </a:solidFill>
                <a:latin typeface="Calibri"/>
              </a:rPr>
              <a:t>Управление заказами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20"/>
          <p:cNvSpPr/>
          <p:nvPr/>
        </p:nvSpPr>
        <p:spPr>
          <a:xfrm>
            <a:off x="7589520" y="4937760"/>
            <a:ext cx="37483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Список записей, состав и итог. Администратор правит дату и удаляет позиции.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52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chemeClr val="dk2"/>
                </a:solidFill>
                <a:latin typeface="Calibri"/>
              </a:rPr>
              <a:t>Каталог врачей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1"/>
          <p:cNvSpPr/>
          <p:nvPr/>
        </p:nvSpPr>
        <p:spPr>
          <a:xfrm>
            <a:off x="548640" y="1737360"/>
            <a:ext cx="447984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Все врачи поликлиники на одном экране: фото, специальность, стаж, число свободных талонов и цена.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Выноска про подсветку"/>
          <p:cNvSpPr/>
          <p:nvPr/>
        </p:nvSpPr>
        <p:spPr>
          <a:xfrm>
            <a:off x="548640" y="3749040"/>
            <a:ext cx="4479840" cy="1096560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 w="12700">
            <a:solidFill>
              <a:srgbClr val="ff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3"/>
          <p:cNvSpPr/>
          <p:nvPr/>
        </p:nvSpPr>
        <p:spPr>
          <a:xfrm>
            <a:off x="777240" y="3749040"/>
            <a:ext cx="40226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Красная карточка — осталось 3 талона или меньше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8" name="Скриншот каталога" descr="Главное окно с каталогом врачей"/>
          <p:cNvPicPr/>
          <p:nvPr/>
        </p:nvPicPr>
        <p:blipFill>
          <a:blip r:embed="rId1"/>
          <a:stretch/>
        </p:blipFill>
        <p:spPr>
          <a:xfrm>
            <a:off x="5676480" y="1691640"/>
            <a:ext cx="5963040" cy="484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52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chemeClr val="dk2"/>
                </a:solidFill>
                <a:latin typeface="Calibri"/>
              </a:rPr>
              <a:t>Вход и запись на приём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Подложка 1"/>
          <p:cNvSpPr/>
          <p:nvPr/>
        </p:nvSpPr>
        <p:spPr>
          <a:xfrm>
            <a:off x="548640" y="1554480"/>
            <a:ext cx="5348520" cy="393120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rgbClr val="d2f6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1" name="Окно авторизации" descr="Окно авторизации"/>
          <p:cNvPicPr/>
          <p:nvPr/>
        </p:nvPicPr>
        <p:blipFill>
          <a:blip r:embed="rId1"/>
          <a:stretch/>
        </p:blipFill>
        <p:spPr>
          <a:xfrm>
            <a:off x="1070640" y="1737360"/>
            <a:ext cx="4304520" cy="3565440"/>
          </a:xfrm>
          <a:prstGeom prst="rect">
            <a:avLst/>
          </a:prstGeom>
          <a:ln w="0">
            <a:noFill/>
          </a:ln>
        </p:spPr>
      </p:pic>
      <p:sp>
        <p:nvSpPr>
          <p:cNvPr id="192" name="Text 2"/>
          <p:cNvSpPr/>
          <p:nvPr/>
        </p:nvSpPr>
        <p:spPr>
          <a:xfrm>
            <a:off x="548640" y="5669280"/>
            <a:ext cx="53485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1. Вход по логину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Подложка 2"/>
          <p:cNvSpPr/>
          <p:nvPr/>
        </p:nvSpPr>
        <p:spPr>
          <a:xfrm>
            <a:off x="6263640" y="1554480"/>
            <a:ext cx="5348520" cy="393120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rgbClr val="d2f6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4" name="Форма врача" descr="Форма врача"/>
          <p:cNvPicPr/>
          <p:nvPr/>
        </p:nvPicPr>
        <p:blipFill>
          <a:blip r:embed="rId2"/>
          <a:stretch/>
        </p:blipFill>
        <p:spPr>
          <a:xfrm>
            <a:off x="6960960" y="1737360"/>
            <a:ext cx="3954240" cy="3565440"/>
          </a:xfrm>
          <a:prstGeom prst="rect">
            <a:avLst/>
          </a:prstGeom>
          <a:ln w="0">
            <a:noFill/>
          </a:ln>
        </p:spPr>
      </p:pic>
      <p:sp>
        <p:nvSpPr>
          <p:cNvPr id="195" name="Text 4"/>
          <p:cNvSpPr/>
          <p:nvPr/>
        </p:nvSpPr>
        <p:spPr>
          <a:xfrm>
            <a:off x="6263640" y="5669280"/>
            <a:ext cx="53485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2. Выбор врача и числа талонов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52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chemeClr val="dk2"/>
                </a:solidFill>
                <a:latin typeface="Calibri"/>
              </a:rPr>
              <a:t>Заказы и их состав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Подложка 1"/>
          <p:cNvSpPr/>
          <p:nvPr/>
        </p:nvSpPr>
        <p:spPr>
          <a:xfrm>
            <a:off x="548640" y="1554480"/>
            <a:ext cx="5348520" cy="3931200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8" name="Список заказов" descr="Список заказов"/>
          <p:cNvPicPr/>
          <p:nvPr/>
        </p:nvPicPr>
        <p:blipFill>
          <a:blip r:embed="rId1"/>
          <a:stretch/>
        </p:blipFill>
        <p:spPr>
          <a:xfrm>
            <a:off x="731520" y="1864440"/>
            <a:ext cx="4982760" cy="3311280"/>
          </a:xfrm>
          <a:prstGeom prst="rect">
            <a:avLst/>
          </a:prstGeom>
          <a:ln w="0">
            <a:noFill/>
          </a:ln>
        </p:spPr>
      </p:pic>
      <p:sp>
        <p:nvSpPr>
          <p:cNvPr id="199" name="Text 2"/>
          <p:cNvSpPr/>
          <p:nvPr/>
        </p:nvSpPr>
        <p:spPr>
          <a:xfrm>
            <a:off x="548640" y="5669280"/>
            <a:ext cx="53485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Менеджер и администратор видят все записи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Подложка 2"/>
          <p:cNvSpPr/>
          <p:nvPr/>
        </p:nvSpPr>
        <p:spPr>
          <a:xfrm>
            <a:off x="6263640" y="1554480"/>
            <a:ext cx="5348520" cy="3931200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1" name="Состав заказа" descr="Состав заказа"/>
          <p:cNvPicPr/>
          <p:nvPr/>
        </p:nvPicPr>
        <p:blipFill>
          <a:blip r:embed="rId2"/>
          <a:stretch/>
        </p:blipFill>
        <p:spPr>
          <a:xfrm>
            <a:off x="6446520" y="1771920"/>
            <a:ext cx="4982760" cy="3496680"/>
          </a:xfrm>
          <a:prstGeom prst="rect">
            <a:avLst/>
          </a:prstGeom>
          <a:ln w="0">
            <a:noFill/>
          </a:ln>
        </p:spPr>
      </p:pic>
      <p:sp>
        <p:nvSpPr>
          <p:cNvPr id="202" name="Text 4"/>
          <p:cNvSpPr/>
          <p:nvPr/>
        </p:nvSpPr>
        <p:spPr>
          <a:xfrm>
            <a:off x="6263640" y="5669280"/>
            <a:ext cx="53485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Состав и итог; администратор может править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52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chemeClr val="dk2"/>
                </a:solidFill>
                <a:latin typeface="Calibri"/>
              </a:rPr>
              <a:t>База данных PostgreSQL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1"/>
          <p:cNvSpPr/>
          <p:nvPr/>
        </p:nvSpPr>
        <p:spPr>
          <a:xfrm>
            <a:off x="548640" y="1371600"/>
            <a:ext cx="110635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6 таблиц в третьей нормальной форме, связи через внешние ключи, CHECK-ограничения.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Таблица roles"/>
          <p:cNvSpPr/>
          <p:nvPr/>
        </p:nvSpPr>
        <p:spPr>
          <a:xfrm>
            <a:off x="548640" y="2194560"/>
            <a:ext cx="3565440" cy="19195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9050">
            <a:solidFill>
              <a:srgbClr val="70b2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3"/>
          <p:cNvSpPr/>
          <p:nvPr/>
        </p:nvSpPr>
        <p:spPr>
          <a:xfrm>
            <a:off x="822960" y="2423160"/>
            <a:ext cx="3016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chemeClr val="dk2"/>
                </a:solidFill>
                <a:latin typeface="Calibri"/>
              </a:rPr>
              <a:t>roles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4"/>
          <p:cNvSpPr/>
          <p:nvPr/>
        </p:nvSpPr>
        <p:spPr>
          <a:xfrm>
            <a:off x="822960" y="2971800"/>
            <a:ext cx="30168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id, name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Таблица users"/>
          <p:cNvSpPr/>
          <p:nvPr/>
        </p:nvSpPr>
        <p:spPr>
          <a:xfrm>
            <a:off x="4297680" y="2194560"/>
            <a:ext cx="3565440" cy="19195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9050">
            <a:solidFill>
              <a:srgbClr val="70b2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6"/>
          <p:cNvSpPr/>
          <p:nvPr/>
        </p:nvSpPr>
        <p:spPr>
          <a:xfrm>
            <a:off x="4572000" y="2423160"/>
            <a:ext cx="3016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chemeClr val="dk2"/>
                </a:solidFill>
                <a:latin typeface="Calibri"/>
              </a:rPr>
              <a:t>users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7"/>
          <p:cNvSpPr/>
          <p:nvPr/>
        </p:nvSpPr>
        <p:spPr>
          <a:xfrm>
            <a:off x="4572000" y="2971800"/>
            <a:ext cx="30168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login, full_name, role_id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Таблица specialties"/>
          <p:cNvSpPr/>
          <p:nvPr/>
        </p:nvSpPr>
        <p:spPr>
          <a:xfrm>
            <a:off x="8046720" y="2194560"/>
            <a:ext cx="3565440" cy="19195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9050">
            <a:solidFill>
              <a:srgbClr val="70b2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9"/>
          <p:cNvSpPr/>
          <p:nvPr/>
        </p:nvSpPr>
        <p:spPr>
          <a:xfrm>
            <a:off x="8321040" y="2423160"/>
            <a:ext cx="3016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chemeClr val="dk2"/>
                </a:solidFill>
                <a:latin typeface="Calibri"/>
              </a:rPr>
              <a:t>specialties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10"/>
          <p:cNvSpPr/>
          <p:nvPr/>
        </p:nvSpPr>
        <p:spPr>
          <a:xfrm>
            <a:off x="8321040" y="2971800"/>
            <a:ext cx="30168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id, name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Таблица doctors"/>
          <p:cNvSpPr/>
          <p:nvPr/>
        </p:nvSpPr>
        <p:spPr>
          <a:xfrm>
            <a:off x="548640" y="4343400"/>
            <a:ext cx="3565440" cy="19195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9050">
            <a:solidFill>
              <a:srgbClr val="70b2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12"/>
          <p:cNvSpPr/>
          <p:nvPr/>
        </p:nvSpPr>
        <p:spPr>
          <a:xfrm>
            <a:off x="822960" y="4572000"/>
            <a:ext cx="3016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chemeClr val="dk2"/>
                </a:solidFill>
                <a:latin typeface="Calibri"/>
              </a:rPr>
              <a:t>doctors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13"/>
          <p:cNvSpPr/>
          <p:nvPr/>
        </p:nvSpPr>
        <p:spPr>
          <a:xfrm>
            <a:off x="822960" y="5120640"/>
            <a:ext cx="30168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specialty_id, full_name, experience_years, price, slots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Таблица orders"/>
          <p:cNvSpPr/>
          <p:nvPr/>
        </p:nvSpPr>
        <p:spPr>
          <a:xfrm>
            <a:off x="4297680" y="4343400"/>
            <a:ext cx="3565440" cy="19195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9050">
            <a:solidFill>
              <a:srgbClr val="70b2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15"/>
          <p:cNvSpPr/>
          <p:nvPr/>
        </p:nvSpPr>
        <p:spPr>
          <a:xfrm>
            <a:off x="4572000" y="4572000"/>
            <a:ext cx="3016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chemeClr val="dk2"/>
                </a:solidFill>
                <a:latin typeface="Calibri"/>
              </a:rPr>
              <a:t>orders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16"/>
          <p:cNvSpPr/>
          <p:nvPr/>
        </p:nvSpPr>
        <p:spPr>
          <a:xfrm>
            <a:off x="4572000" y="5120640"/>
            <a:ext cx="30168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order_date, client_id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Таблица order_items"/>
          <p:cNvSpPr/>
          <p:nvPr/>
        </p:nvSpPr>
        <p:spPr>
          <a:xfrm>
            <a:off x="8046720" y="4343400"/>
            <a:ext cx="3565440" cy="19195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9050">
            <a:solidFill>
              <a:srgbClr val="70b2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18"/>
          <p:cNvSpPr/>
          <p:nvPr/>
        </p:nvSpPr>
        <p:spPr>
          <a:xfrm>
            <a:off x="8321040" y="4572000"/>
            <a:ext cx="3016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chemeClr val="dk2"/>
                </a:solidFill>
                <a:latin typeface="Calibri"/>
              </a:rPr>
              <a:t>order_items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19"/>
          <p:cNvSpPr/>
          <p:nvPr/>
        </p:nvSpPr>
        <p:spPr>
          <a:xfrm>
            <a:off x="8321040" y="5120640"/>
            <a:ext cx="30168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order_id, doctor_id, quantity, price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52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chemeClr val="lt1"/>
                </a:solidFill>
                <a:latin typeface="Calibri"/>
              </a:rPr>
              <a:t>Видео</a:t>
            </a:r>
            <a:endParaRPr b="0" lang="ru-RU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7"/>
          <p:cNvSpPr/>
          <p:nvPr/>
        </p:nvSpPr>
        <p:spPr>
          <a:xfrm>
            <a:off x="548640" y="5669280"/>
            <a:ext cx="11063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accent1"/>
                </a:solidFill>
                <a:latin typeface="Calibri"/>
              </a:rPr>
              <a:t>Python · Tkinter · PostgreSQL · psycopg2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5" name="" descr=""/>
          <p:cNvPicPr/>
          <p:nvPr/>
        </p:nvPicPr>
        <p:blipFill>
          <a:blip r:embed="rId1"/>
          <a:srcRect l="16487" t="0" r="17542" b="0"/>
          <a:stretch/>
        </p:blipFill>
        <p:spPr>
          <a:xfrm>
            <a:off x="900000" y="1936800"/>
            <a:ext cx="4319640" cy="2742840"/>
          </a:xfrm>
          <a:prstGeom prst="rect">
            <a:avLst/>
          </a:prstGeom>
          <a:ln w="0">
            <a:noFill/>
          </a:ln>
        </p:spPr>
      </p:pic>
      <p:sp>
        <p:nvSpPr>
          <p:cNvPr id="226" name=""/>
          <p:cNvSpPr/>
          <p:nvPr/>
        </p:nvSpPr>
        <p:spPr>
          <a:xfrm>
            <a:off x="5940000" y="1800000"/>
            <a:ext cx="5579640" cy="29998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\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linic">
  <a:themeElements>
    <a:clrScheme name="Clinic">
      <a:dk1>
        <a:srgbClr val="1f3b3a"/>
      </a:dk1>
      <a:lt1>
        <a:srgbClr val="ffffff"/>
      </a:lt1>
      <a:dk2>
        <a:srgbClr val="1f4b49"/>
      </a:dk2>
      <a:lt2>
        <a:srgbClr val="d2f6e7"/>
      </a:lt2>
      <a:accent1>
        <a:srgbClr val="70b2af"/>
      </a:accent1>
      <a:accent2>
        <a:srgbClr val="ff8080"/>
      </a:accent2>
      <a:accent3>
        <a:srgbClr val="8a2d2d"/>
      </a:accent3>
      <a:accent4>
        <a:srgbClr val="f4fcf9"/>
      </a:accent4>
      <a:accent5>
        <a:srgbClr val="3e7f7c"/>
      </a:accent5>
      <a:accent6>
        <a:srgbClr val="b5e3da"/>
      </a:accent6>
      <a:hlink>
        <a:srgbClr val="3e7f7c"/>
      </a:hlink>
      <a:folHlink>
        <a:srgbClr val="1f4b49"/>
      </a:folHlink>
    </a:clrScheme>
    <a:fontScheme name="Clinic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linic">
  <a:themeElements>
    <a:clrScheme name="Clinic">
      <a:dk1>
        <a:srgbClr val="1f3b3a"/>
      </a:dk1>
      <a:lt1>
        <a:srgbClr val="ffffff"/>
      </a:lt1>
      <a:dk2>
        <a:srgbClr val="1f4b49"/>
      </a:dk2>
      <a:lt2>
        <a:srgbClr val="d2f6e7"/>
      </a:lt2>
      <a:accent1>
        <a:srgbClr val="70b2af"/>
      </a:accent1>
      <a:accent2>
        <a:srgbClr val="ff8080"/>
      </a:accent2>
      <a:accent3>
        <a:srgbClr val="8a2d2d"/>
      </a:accent3>
      <a:accent4>
        <a:srgbClr val="f4fcf9"/>
      </a:accent4>
      <a:accent5>
        <a:srgbClr val="3e7f7c"/>
      </a:accent5>
      <a:accent6>
        <a:srgbClr val="b5e3da"/>
      </a:accent6>
      <a:hlink>
        <a:srgbClr val="3e7f7c"/>
      </a:hlink>
      <a:folHlink>
        <a:srgbClr val="1f4b49"/>
      </a:folHlink>
    </a:clrScheme>
    <a:fontScheme name="Clinic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linic">
  <a:themeElements>
    <a:clrScheme name="Clinic">
      <a:dk1>
        <a:srgbClr val="1f3b3a"/>
      </a:dk1>
      <a:lt1>
        <a:srgbClr val="ffffff"/>
      </a:lt1>
      <a:dk2>
        <a:srgbClr val="1f4b49"/>
      </a:dk2>
      <a:lt2>
        <a:srgbClr val="d2f6e7"/>
      </a:lt2>
      <a:accent1>
        <a:srgbClr val="70b2af"/>
      </a:accent1>
      <a:accent2>
        <a:srgbClr val="ff8080"/>
      </a:accent2>
      <a:accent3>
        <a:srgbClr val="8a2d2d"/>
      </a:accent3>
      <a:accent4>
        <a:srgbClr val="f4fcf9"/>
      </a:accent4>
      <a:accent5>
        <a:srgbClr val="3e7f7c"/>
      </a:accent5>
      <a:accent6>
        <a:srgbClr val="b5e3da"/>
      </a:accent6>
      <a:hlink>
        <a:srgbClr val="3e7f7c"/>
      </a:hlink>
      <a:folHlink>
        <a:srgbClr val="1f4b49"/>
      </a:folHlink>
    </a:clrScheme>
    <a:fontScheme name="Clinic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linic">
  <a:themeElements>
    <a:clrScheme name="Clinic">
      <a:dk1>
        <a:srgbClr val="1f3b3a"/>
      </a:dk1>
      <a:lt1>
        <a:srgbClr val="ffffff"/>
      </a:lt1>
      <a:dk2>
        <a:srgbClr val="1f4b49"/>
      </a:dk2>
      <a:lt2>
        <a:srgbClr val="d2f6e7"/>
      </a:lt2>
      <a:accent1>
        <a:srgbClr val="70b2af"/>
      </a:accent1>
      <a:accent2>
        <a:srgbClr val="ff8080"/>
      </a:accent2>
      <a:accent3>
        <a:srgbClr val="8a2d2d"/>
      </a:accent3>
      <a:accent4>
        <a:srgbClr val="f4fcf9"/>
      </a:accent4>
      <a:accent5>
        <a:srgbClr val="3e7f7c"/>
      </a:accent5>
      <a:accent6>
        <a:srgbClr val="b5e3da"/>
      </a:accent6>
      <a:hlink>
        <a:srgbClr val="3e7f7c"/>
      </a:hlink>
      <a:folHlink>
        <a:srgbClr val="1f4b49"/>
      </a:folHlink>
    </a:clrScheme>
    <a:fontScheme name="Clinic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LibreOffice/7.6.2.1$Windows_X86_64 LibreOffice_project/56f7684011345957bbf33a7ee678afaf4d2ba333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2026-10-29T19:47:13Z</dcterms:created>
  <dc:creator>Жилин Павел Витальевич</dc:creator>
  <dc:description/>
  <dc:language>ru-RU</dc:language>
  <cp:lastModifiedBy/>
  <dcterms:modified xsi:type="dcterms:W3CDTF">2026-10-29T23:25:34Z</dcterms:modified>
  <cp:revision>4</cp:revision>
  <dc:subject>PptxGenJS Presentation</dc:subject>
  <dc:title>Запись к врачу — Поликлиника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